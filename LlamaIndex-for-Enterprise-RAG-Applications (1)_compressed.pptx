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  <p:embeddedFont>
      <p:font typeface="Merriweather"/>
      <p:regular r:id="rId22"/>
    </p:embeddedFont>
    <p:embeddedFont>
      <p:font typeface="Merriweather"/>
      <p:regular r:id="rId23"/>
    </p:embeddedFont>
    <p:embeddedFont>
      <p:font typeface="Merriweath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894531"/>
            <a:ext cx="752029" cy="183579"/>
          </a:xfrm>
          <a:prstGeom prst="roundRect">
            <a:avLst>
              <a:gd name="adj" fmla="val 18530"/>
            </a:avLst>
          </a:prstGeom>
          <a:noFill/>
          <a:ln w="4763">
            <a:solidFill>
              <a:srgbClr val="609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5358" y="929655"/>
            <a:ext cx="621060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AI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1342504" y="894531"/>
            <a:ext cx="304279" cy="183579"/>
          </a:xfrm>
          <a:prstGeom prst="roundRect">
            <a:avLst>
              <a:gd name="adj" fmla="val 18530"/>
            </a:avLst>
          </a:prstGeom>
          <a:noFill/>
          <a:ln w="4763">
            <a:solidFill>
              <a:srgbClr val="609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7988" y="929655"/>
            <a:ext cx="173310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RAG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1697385" y="894531"/>
            <a:ext cx="694730" cy="183579"/>
          </a:xfrm>
          <a:prstGeom prst="roundRect">
            <a:avLst>
              <a:gd name="adj" fmla="val 18530"/>
            </a:avLst>
          </a:prstGeom>
          <a:noFill/>
          <a:ln w="4763">
            <a:solidFill>
              <a:srgbClr val="609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62869" y="929655"/>
            <a:ext cx="563761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39874" y="1108472"/>
            <a:ext cx="8064252" cy="1265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 for Enterprise RAG Applications</a:t>
            </a:r>
            <a:endParaRPr lang="en-US" sz="3950" dirty="0"/>
          </a:p>
        </p:txBody>
      </p:sp>
      <p:sp>
        <p:nvSpPr>
          <p:cNvPr id="9" name="Text 7"/>
          <p:cNvSpPr/>
          <p:nvPr/>
        </p:nvSpPr>
        <p:spPr>
          <a:xfrm>
            <a:off x="539874" y="2487662"/>
            <a:ext cx="2817763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Enterprise Data to Intelligent AI Systems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9874" y="2759720"/>
            <a:ext cx="806425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Presented by:</a:t>
            </a:r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Jaina Sumith Gupta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39874" y="2986757"/>
            <a:ext cx="3994175" cy="370136"/>
          </a:xfrm>
          <a:prstGeom prst="roundRect">
            <a:avLst>
              <a:gd name="adj" fmla="val 1148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840" y="3092723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LlamaIndex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9951" y="2986757"/>
            <a:ext cx="3994175" cy="370136"/>
          </a:xfrm>
          <a:prstGeom prst="roundRect">
            <a:avLst>
              <a:gd name="adj" fmla="val 1148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5917" y="3092723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RAG Architecture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874" y="3432795"/>
            <a:ext cx="3994175" cy="370136"/>
          </a:xfrm>
          <a:prstGeom prst="roundRect">
            <a:avLst>
              <a:gd name="adj" fmla="val 1148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840" y="3538761"/>
            <a:ext cx="1710630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Implementations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9951" y="3432795"/>
            <a:ext cx="3994175" cy="370136"/>
          </a:xfrm>
          <a:prstGeom prst="roundRect">
            <a:avLst>
              <a:gd name="adj" fmla="val 1148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5917" y="3538761"/>
            <a:ext cx="1281559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Retrieval Techniques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874" y="3878833"/>
            <a:ext cx="3994175" cy="370136"/>
          </a:xfrm>
          <a:prstGeom prst="roundRect">
            <a:avLst>
              <a:gd name="adj" fmla="val 1148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840" y="3984799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Use Cases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09951" y="3878833"/>
            <a:ext cx="3994175" cy="370136"/>
          </a:xfrm>
          <a:prstGeom prst="roundRect">
            <a:avLst>
              <a:gd name="adj" fmla="val 1148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5917" y="3984799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Scope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532954"/>
            <a:ext cx="2542505" cy="31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LlamaIndex?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68874" y="963141"/>
            <a:ext cx="4635252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 is a purpose-built data framework that bridges enterprise and private data sources with Large Language Models (LLMs). It serves as the </a:t>
            </a:r>
            <a:pPr algn="l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knowledge layer</a:t>
            </a:r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between raw organisational data and AI systems, enabling accurate, context-aware responses grounded in your own documents and databases.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68874" y="1615232"/>
            <a:ext cx="4635252" cy="1417662"/>
          </a:xfrm>
          <a:prstGeom prst="roundRect">
            <a:avLst>
              <a:gd name="adj" fmla="val 4838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54587" y="1615232"/>
            <a:ext cx="57150" cy="1417662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7" name="Text 4"/>
          <p:cNvSpPr/>
          <p:nvPr/>
        </p:nvSpPr>
        <p:spPr>
          <a:xfrm>
            <a:off x="4127227" y="1730722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It Is Used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27227" y="1934468"/>
            <a:ext cx="4361408" cy="98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Builds end-to-end RAG applications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document ingestion and parsing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Creates and manages embeddings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semantic and hybrid retrieval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Integrates with leading vector databases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Improves answer accuracy and reduces hallucinations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968874" y="3108796"/>
            <a:ext cx="4635252" cy="912912"/>
          </a:xfrm>
          <a:prstGeom prst="roundRect">
            <a:avLst>
              <a:gd name="adj" fmla="val 7512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54587" y="3108796"/>
            <a:ext cx="57150" cy="912912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11" name="Text 8"/>
          <p:cNvSpPr/>
          <p:nvPr/>
        </p:nvSpPr>
        <p:spPr>
          <a:xfrm>
            <a:off x="4127227" y="3224287"/>
            <a:ext cx="1413123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Supported Integrations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27227" y="3428033"/>
            <a:ext cx="4361408" cy="47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LLM Providers:</a:t>
            </a:r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Groq, OpenAI, Ollama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Embeddings:</a:t>
            </a:r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HuggingFace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Vector Stores:</a:t>
            </a:r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PostgreSQL/PGVector, ChromaDB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968874" y="4107061"/>
            <a:ext cx="4635252" cy="503486"/>
          </a:xfrm>
          <a:prstGeom prst="roundRect">
            <a:avLst>
              <a:gd name="adj" fmla="val 8445"/>
            </a:avLst>
          </a:prstGeom>
          <a:solidFill>
            <a:srgbClr val="001D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077" y="4249787"/>
            <a:ext cx="126504" cy="1012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784" y="4208264"/>
            <a:ext cx="4205139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Insight:</a:t>
            </a:r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LlamaIndex acts as the knowledge layer between enterprise data and LLMs — transforming unstructured documents into intelligent, queryable knowledge.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85" y="287536"/>
            <a:ext cx="3953321" cy="2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Implementation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985" y="564505"/>
            <a:ext cx="1189434" cy="128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RAG 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8985" y="768176"/>
            <a:ext cx="8486031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end-to-end pipeline transforms raw enterprise documents into intelligent, context-aware AI responses. Each stage is optimised for accuracy, speed, and scalability — from document ingestion through to LLM-powered output generation.</a:t>
            </a:r>
            <a:endParaRPr lang="en-US" sz="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85" y="1036141"/>
            <a:ext cx="6553200" cy="3657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85" y="1036141"/>
            <a:ext cx="65532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985" y="4750073"/>
            <a:ext cx="8486031" cy="1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architecture leverages </a:t>
            </a:r>
            <a:pPr algn="l" indent="0" marL="0">
              <a:lnSpc>
                <a:spcPts val="8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</a:t>
            </a:r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orchestration, </a:t>
            </a:r>
            <a:pPr algn="l" indent="0" marL="0">
              <a:lnSpc>
                <a:spcPts val="8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HuggingFace</a:t>
            </a:r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embeddings, </a:t>
            </a:r>
            <a:pPr algn="l" indent="0" marL="0">
              <a:lnSpc>
                <a:spcPts val="8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PGVector</a:t>
            </a:r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persistent storage, and </a:t>
            </a:r>
            <a:pPr algn="l" indent="0" marL="0">
              <a:lnSpc>
                <a:spcPts val="8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Groq</a:t>
            </a:r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ultra-low-latency inference — delivering production-ready RAG performance.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1704"/>
            <a:ext cx="5133975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Components Implemented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39874" y="1113383"/>
            <a:ext cx="8064252" cy="43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component in the pipeline plays a distinct role in ensuring documents are ingested, processed, stored, and retrieved with precision. Together, they form a robust, production-grade RAG 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9874" y="1697087"/>
            <a:ext cx="2598093" cy="1576462"/>
          </a:xfrm>
          <a:prstGeom prst="roundRect">
            <a:avLst>
              <a:gd name="adj" fmla="val 359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9549" y="1836762"/>
            <a:ext cx="180982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📄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Document Loading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9549" y="2128540"/>
            <a:ext cx="2318742" cy="74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PDF Reader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File Loader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Web Content Loader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2879" y="1697087"/>
            <a:ext cx="2598167" cy="1576462"/>
          </a:xfrm>
          <a:prstGeom prst="roundRect">
            <a:avLst>
              <a:gd name="adj" fmla="val 359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2554" y="1836762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✂️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Text Splitting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2554" y="2128540"/>
            <a:ext cx="2318817" cy="100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Sentence Splitter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Recursive Splitter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Token Splitter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Semantic Chunking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05959" y="1697087"/>
            <a:ext cx="2598167" cy="1576462"/>
          </a:xfrm>
          <a:prstGeom prst="roundRect">
            <a:avLst>
              <a:gd name="adj" fmla="val 359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5634" y="1836762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🔢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Embeddings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5634" y="2128540"/>
            <a:ext cx="2318817" cy="95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HuggingFace Embeddings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Semantic Vector Creation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High-dimensional representations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874" y="3408462"/>
            <a:ext cx="3964632" cy="1313334"/>
          </a:xfrm>
          <a:prstGeom prst="roundRect">
            <a:avLst>
              <a:gd name="adj" fmla="val 431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549" y="3548137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🗄️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Vector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9549" y="3839914"/>
            <a:ext cx="3685282" cy="74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 + PGVector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Persistent vector storage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SQL-compatible querying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9419" y="3408462"/>
            <a:ext cx="3964707" cy="1313334"/>
          </a:xfrm>
          <a:prstGeom prst="roundRect">
            <a:avLst>
              <a:gd name="adj" fmla="val 431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9094" y="3548137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🔍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Retrieval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9094" y="3839914"/>
            <a:ext cx="3685356" cy="74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Vector Search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BM25 Keyword Search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Retrieval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391418"/>
            <a:ext cx="4306714" cy="3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Retrieval &amp; Reranking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39874" y="814685"/>
            <a:ext cx="2038052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Retrieval Pipeline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2438" y="1168450"/>
            <a:ext cx="4058841" cy="3583632"/>
          </a:xfrm>
          <a:prstGeom prst="roundRect">
            <a:avLst>
              <a:gd name="adj" fmla="val 2441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73881" y="1277764"/>
            <a:ext cx="2258690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Three-Layer Retrieval Strategy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3881" y="1590526"/>
            <a:ext cx="3815953" cy="939998"/>
          </a:xfrm>
          <a:prstGeom prst="roundRect">
            <a:avLst>
              <a:gd name="adj" fmla="val 7296"/>
            </a:avLst>
          </a:prstGeom>
          <a:solidFill>
            <a:srgbClr val="041938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9594" y="1590526"/>
            <a:ext cx="57150" cy="939998"/>
          </a:xfrm>
          <a:prstGeom prst="roundRect">
            <a:avLst>
              <a:gd name="adj" fmla="val 89282"/>
            </a:avLst>
          </a:prstGeom>
          <a:solidFill>
            <a:srgbClr val="609DFF"/>
          </a:solidFill>
          <a:ln/>
        </p:spPr>
      </p:sp>
      <p:sp>
        <p:nvSpPr>
          <p:cNvPr id="8" name="Text 6"/>
          <p:cNvSpPr/>
          <p:nvPr/>
        </p:nvSpPr>
        <p:spPr>
          <a:xfrm>
            <a:off x="752475" y="1726257"/>
            <a:ext cx="151856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Vector Retrieval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2475" y="2025402"/>
            <a:ext cx="350162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Finds semantically similar content using embedding similarity — captures meaning beyond exact words.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3881" y="2639839"/>
            <a:ext cx="3815953" cy="939998"/>
          </a:xfrm>
          <a:prstGeom prst="roundRect">
            <a:avLst>
              <a:gd name="adj" fmla="val 7296"/>
            </a:avLst>
          </a:prstGeom>
          <a:solidFill>
            <a:srgbClr val="041938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594" y="2639839"/>
            <a:ext cx="57150" cy="939998"/>
          </a:xfrm>
          <a:prstGeom prst="roundRect">
            <a:avLst>
              <a:gd name="adj" fmla="val 89282"/>
            </a:avLst>
          </a:prstGeom>
          <a:solidFill>
            <a:srgbClr val="609DFF"/>
          </a:solidFill>
          <a:ln/>
        </p:spPr>
      </p:sp>
      <p:sp>
        <p:nvSpPr>
          <p:cNvPr id="12" name="Text 10"/>
          <p:cNvSpPr/>
          <p:nvPr/>
        </p:nvSpPr>
        <p:spPr>
          <a:xfrm>
            <a:off x="752475" y="2775570"/>
            <a:ext cx="151856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BM25 Retrieval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2475" y="3074715"/>
            <a:ext cx="350162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Finds keyword-based exact matches — ensures precise term-level recall for technical queries.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3881" y="3689152"/>
            <a:ext cx="3815953" cy="939998"/>
          </a:xfrm>
          <a:prstGeom prst="roundRect">
            <a:avLst>
              <a:gd name="adj" fmla="val 7296"/>
            </a:avLst>
          </a:prstGeom>
          <a:solidFill>
            <a:srgbClr val="041938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9594" y="3689152"/>
            <a:ext cx="57150" cy="939998"/>
          </a:xfrm>
          <a:prstGeom prst="roundRect">
            <a:avLst>
              <a:gd name="adj" fmla="val 89282"/>
            </a:avLst>
          </a:prstGeom>
          <a:solidFill>
            <a:srgbClr val="609DFF"/>
          </a:solidFill>
          <a:ln/>
        </p:spPr>
      </p:sp>
      <p:sp>
        <p:nvSpPr>
          <p:cNvPr id="16" name="Text 14"/>
          <p:cNvSpPr/>
          <p:nvPr/>
        </p:nvSpPr>
        <p:spPr>
          <a:xfrm>
            <a:off x="752475" y="3824883"/>
            <a:ext cx="151856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Retrieval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2475" y="4124027"/>
            <a:ext cx="350162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Combines semantic and keyword search for superior accuracy and context relevance.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24921" y="1277764"/>
            <a:ext cx="151856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Reranking Layer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24921" y="1576908"/>
            <a:ext cx="3883968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After hybrid retrieval, the top candidate chunks are passed through a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reranker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that scores and reorders them by true relevance before delivery to the LLM. This critical step ensures only the most pertinent context reaches the model.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24921" y="2438623"/>
            <a:ext cx="1887289" cy="1110779"/>
          </a:xfrm>
          <a:prstGeom prst="roundRect">
            <a:avLst>
              <a:gd name="adj" fmla="val 4594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1127" y="2564829"/>
            <a:ext cx="1634877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Reduces Hallucinations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51127" y="3053804"/>
            <a:ext cx="1634877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Filters out weakly relevant context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1525" y="2438623"/>
            <a:ext cx="1887364" cy="1110779"/>
          </a:xfrm>
          <a:prstGeom prst="roundRect">
            <a:avLst>
              <a:gd name="adj" fmla="val 4594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7731" y="2564829"/>
            <a:ext cx="1634951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Improves Response Quality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47731" y="3053804"/>
            <a:ext cx="1634951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Sharper, more accurate AI outputs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4921" y="3658716"/>
            <a:ext cx="3883968" cy="736253"/>
          </a:xfrm>
          <a:prstGeom prst="roundRect">
            <a:avLst>
              <a:gd name="adj" fmla="val 693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1127" y="3784922"/>
            <a:ext cx="1993255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Search Accuracy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51127" y="4084067"/>
            <a:ext cx="3631555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Reliable results for critical queries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0465" y="395734"/>
            <a:ext cx="2811512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End-to-End RAG Workflow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960465" y="748457"/>
            <a:ext cx="465207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user query to context-aware AI response in milliseconds. The real-time RAG workflow delivers intelligent, grounded answers by combining hybrid retrieval, reranking, and fast LLM inference through Groq.</a:t>
            </a:r>
            <a:endParaRPr lang="en-US" sz="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465" y="1037258"/>
            <a:ext cx="431825" cy="5182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47505" y="1123578"/>
            <a:ext cx="107959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Query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447505" y="1291605"/>
            <a:ext cx="4165029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Natural language question from end user</a:t>
            </a:r>
            <a:endParaRPr lang="en-US" sz="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465" y="1555477"/>
            <a:ext cx="431825" cy="5182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47505" y="1641797"/>
            <a:ext cx="107959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Retriever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4447505" y="1809824"/>
            <a:ext cx="4165029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Vector + BM25 search across document store</a:t>
            </a:r>
            <a:endParaRPr lang="en-US" sz="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465" y="2073697"/>
            <a:ext cx="431825" cy="5182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47505" y="2160017"/>
            <a:ext cx="107959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Reranker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4447505" y="2328044"/>
            <a:ext cx="4165029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Scores and reorders top chunks by relevance</a:t>
            </a:r>
            <a:endParaRPr lang="en-US" sz="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465" y="2591916"/>
            <a:ext cx="431825" cy="5182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47505" y="2678237"/>
            <a:ext cx="107959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Groq LLM</a:t>
            </a:r>
            <a:endParaRPr lang="en-US" sz="850" dirty="0"/>
          </a:p>
        </p:txBody>
      </p:sp>
      <p:sp>
        <p:nvSpPr>
          <p:cNvPr id="16" name="Text 9"/>
          <p:cNvSpPr/>
          <p:nvPr/>
        </p:nvSpPr>
        <p:spPr>
          <a:xfrm>
            <a:off x="4447505" y="2846263"/>
            <a:ext cx="4165029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Generates context-aware, grounded response</a:t>
            </a:r>
            <a:endParaRPr lang="en-US" sz="6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0465" y="3172271"/>
            <a:ext cx="172715" cy="17271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202237" y="3201888"/>
            <a:ext cx="107959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Support Assistant</a:t>
            </a:r>
            <a:endParaRPr lang="en-US" sz="850" dirty="0"/>
          </a:p>
        </p:txBody>
      </p:sp>
      <p:sp>
        <p:nvSpPr>
          <p:cNvPr id="19" name="Text 11"/>
          <p:cNvSpPr/>
          <p:nvPr/>
        </p:nvSpPr>
        <p:spPr>
          <a:xfrm>
            <a:off x="4202237" y="3369915"/>
            <a:ext cx="4410298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Answers technical queries from internal documentation and runbooks.</a:t>
            </a:r>
            <a:endParaRPr lang="en-US" sz="6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0465" y="3593753"/>
            <a:ext cx="172715" cy="17271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202237" y="3623370"/>
            <a:ext cx="107959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Document Q&amp;A Bot</a:t>
            </a:r>
            <a:endParaRPr lang="en-US" sz="850" dirty="0"/>
          </a:p>
        </p:txBody>
      </p:sp>
      <p:sp>
        <p:nvSpPr>
          <p:cNvPr id="22" name="Text 13"/>
          <p:cNvSpPr/>
          <p:nvPr/>
        </p:nvSpPr>
        <p:spPr>
          <a:xfrm>
            <a:off x="4202237" y="3791396"/>
            <a:ext cx="4410298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Enables natural language queries across PDFs, policies, and reports.</a:t>
            </a:r>
            <a:endParaRPr lang="en-US" sz="6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60465" y="4015234"/>
            <a:ext cx="172715" cy="17271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202237" y="4044851"/>
            <a:ext cx="118519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Incident RCA Assistant</a:t>
            </a:r>
            <a:endParaRPr lang="en-US" sz="850" dirty="0"/>
          </a:p>
        </p:txBody>
      </p:sp>
      <p:sp>
        <p:nvSpPr>
          <p:cNvPr id="25" name="Text 15"/>
          <p:cNvSpPr/>
          <p:nvPr/>
        </p:nvSpPr>
        <p:spPr>
          <a:xfrm>
            <a:off x="4202237" y="4212878"/>
            <a:ext cx="4410298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Accelerates root cause analysis by surfacing relevant historical incidents.</a:t>
            </a:r>
            <a:endParaRPr lang="en-US" sz="6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60465" y="4436715"/>
            <a:ext cx="172715" cy="17271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202237" y="4466332"/>
            <a:ext cx="139623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Internal Knowledge Search</a:t>
            </a:r>
            <a:endParaRPr lang="en-US" sz="850" dirty="0"/>
          </a:p>
        </p:txBody>
      </p:sp>
      <p:sp>
        <p:nvSpPr>
          <p:cNvPr id="28" name="Text 17"/>
          <p:cNvSpPr/>
          <p:nvPr/>
        </p:nvSpPr>
        <p:spPr>
          <a:xfrm>
            <a:off x="4202237" y="4634359"/>
            <a:ext cx="4410298" cy="1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Unifies organisational knowledge into a single intelligent search interface.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371326"/>
            <a:ext cx="5587008" cy="35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 vs LangChain vs LangGraph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39874" y="924892"/>
            <a:ext cx="8064252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These three frameworks are frequently discussed together, but each serves a distinct purpose in the AI application stack. Understanding their roles helps teams make informed architectural decisions.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874" y="1374204"/>
            <a:ext cx="8064252" cy="1704231"/>
          </a:xfrm>
          <a:prstGeom prst="roundRect">
            <a:avLst>
              <a:gd name="adj" fmla="val 282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637" y="1378967"/>
            <a:ext cx="8054727" cy="2963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9457" y="1442219"/>
            <a:ext cx="178191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75483" y="1442219"/>
            <a:ext cx="258499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Purpose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94586" y="1442219"/>
            <a:ext cx="299010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Best Used For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637" y="1675284"/>
            <a:ext cx="8054727" cy="4661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9457" y="1738536"/>
            <a:ext cx="178191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75483" y="1738536"/>
            <a:ext cx="258499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ingestion &amp; retrieval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94586" y="1738536"/>
            <a:ext cx="2990106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Connecting enterprise data sources to LLMs, vector search, RAG pipelines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637" y="2141413"/>
            <a:ext cx="8054727" cy="4661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9457" y="2204665"/>
            <a:ext cx="178191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75483" y="2204665"/>
            <a:ext cx="258499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Workflow orchestration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94586" y="2204665"/>
            <a:ext cx="2990106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Chaining LLM calls, tools, memory, and structured output pipelines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637" y="2607543"/>
            <a:ext cx="8054727" cy="4661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9457" y="2670795"/>
            <a:ext cx="178191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LangGraph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75483" y="2670795"/>
            <a:ext cx="258499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Agentic AI workflows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94586" y="2670795"/>
            <a:ext cx="2990106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Building autonomous, stateful multi-agent systems with graph-based control flow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88122"/>
            <a:ext cx="4057501" cy="1584052"/>
          </a:xfrm>
          <a:prstGeom prst="roundRect">
            <a:avLst>
              <a:gd name="adj" fmla="val 5215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1872" y="3285604"/>
            <a:ext cx="177187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They Work Together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585" y="3560192"/>
            <a:ext cx="28575" cy="475059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4" name="Text 22"/>
          <p:cNvSpPr/>
          <p:nvPr/>
        </p:nvSpPr>
        <p:spPr>
          <a:xfrm>
            <a:off x="715119" y="3574479"/>
            <a:ext cx="143418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5119" y="3851151"/>
            <a:ext cx="170988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&amp; Retrieval layer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32608" y="3560192"/>
            <a:ext cx="28575" cy="475059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7" name="Text 25"/>
          <p:cNvSpPr/>
          <p:nvPr/>
        </p:nvSpPr>
        <p:spPr>
          <a:xfrm>
            <a:off x="2690143" y="3574479"/>
            <a:ext cx="143418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0143" y="3851151"/>
            <a:ext cx="1709886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Chains &amp; Tools orchestration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585" y="4201716"/>
            <a:ext cx="28575" cy="475059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5119" y="4216003"/>
            <a:ext cx="143418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5119" y="4492675"/>
            <a:ext cx="3684910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Autonomous Agent workflows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16735" y="3297808"/>
            <a:ext cx="3892153" cy="950416"/>
          </a:xfrm>
          <a:prstGeom prst="roundRect">
            <a:avLst>
              <a:gd name="adj" fmla="val 5070"/>
            </a:avLst>
          </a:prstGeom>
          <a:solidFill>
            <a:srgbClr val="022349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1407" y="3464570"/>
            <a:ext cx="143396" cy="1146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089475" y="3423940"/>
            <a:ext cx="3404741" cy="67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Understanding: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These frameworks are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complementary, not competitors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A production-grade enterprise AI system may leverage all three — LlamaIndex for retrieval, LangChain for orchestration, and LangGraph for agentic autonomy.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395957"/>
            <a:ext cx="4033242" cy="31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Enterprises Use LlamaIndex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68874" y="826145"/>
            <a:ext cx="4635252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 delivers measurable business and technical value for organisations deploying AI-powered knowledge systems at scale. From faster decision-making to production-ready pipelines, the benefits span the entire enterprise.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68874" y="1336551"/>
            <a:ext cx="2279675" cy="1893317"/>
          </a:xfrm>
          <a:prstGeom prst="roundRect">
            <a:avLst>
              <a:gd name="adj" fmla="val 224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74840" y="1442517"/>
            <a:ext cx="303684" cy="303684"/>
          </a:xfrm>
          <a:prstGeom prst="roundRect">
            <a:avLst>
              <a:gd name="adj" fmla="val 18817022"/>
            </a:avLst>
          </a:prstGeom>
          <a:solidFill>
            <a:srgbClr val="609D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8332" y="1526009"/>
            <a:ext cx="136624" cy="136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74840" y="1822103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Benefits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074840" y="2025848"/>
            <a:ext cx="2067744" cy="1098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Faster knowledge retrieval across teams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Reduced manual effort and support load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Improved employee productivity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Intelligent enterprise search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Better, data-driven decision-making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324451" y="1336551"/>
            <a:ext cx="2279675" cy="1893317"/>
          </a:xfrm>
          <a:prstGeom prst="roundRect">
            <a:avLst>
              <a:gd name="adj" fmla="val 224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0417" y="1442517"/>
            <a:ext cx="303684" cy="303684"/>
          </a:xfrm>
          <a:prstGeom prst="roundRect">
            <a:avLst>
              <a:gd name="adj" fmla="val 18817022"/>
            </a:avLst>
          </a:prstGeom>
          <a:solidFill>
            <a:srgbClr val="609D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3909" y="1526009"/>
            <a:ext cx="136624" cy="136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0417" y="1822103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Technical Benefits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430417" y="2025848"/>
            <a:ext cx="2067744" cy="95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Scalable, modular architecture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Persistent vector storage via PGVector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Flexible multi-LLM integrations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Production-ready pipelines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Multi-LLM support (Groq, OpenAI, Ollama)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3968874" y="3305770"/>
            <a:ext cx="4635252" cy="1441698"/>
          </a:xfrm>
          <a:prstGeom prst="roundRect">
            <a:avLst>
              <a:gd name="adj" fmla="val 2949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74840" y="3411736"/>
            <a:ext cx="303684" cy="303684"/>
          </a:xfrm>
          <a:prstGeom prst="roundRect">
            <a:avLst>
              <a:gd name="adj" fmla="val 18817022"/>
            </a:avLst>
          </a:prstGeom>
          <a:solidFill>
            <a:srgbClr val="609D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8332" y="3495229"/>
            <a:ext cx="136624" cy="136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74840" y="3791322"/>
            <a:ext cx="1428750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Applications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074840" y="3995068"/>
            <a:ext cx="4423321" cy="64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Chatbots for internal support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Monitoring &amp; Alerting Assistants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Policy &amp; Compliance Search Systems</a:t>
            </a:r>
            <a:endParaRPr lang="en-US" sz="75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Self-Service Support Bots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4029"/>
            <a:ext cx="3721298" cy="31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Scope &amp; Enhancements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39874" y="912168"/>
            <a:ext cx="8064252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roadmap extends beyond single-agent RAG towards fully autonomous, observable, and production-grade enterprise AI systems. These enhancements will enable organisations to scale intelligence across complex operational environments.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9874" y="1356792"/>
            <a:ext cx="1576983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Upcoming Enhancements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825" y="1603437"/>
            <a:ext cx="151805" cy="151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859" y="1600349"/>
            <a:ext cx="1581224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Multi-Agent RAG Systems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68859" y="1834455"/>
            <a:ext cx="357968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Collaborative agents with specialised retrieval roles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25" y="2131033"/>
            <a:ext cx="151805" cy="1518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859" y="2127945"/>
            <a:ext cx="1969591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Graph RAG &amp; Knowledge Graphs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68859" y="2362051"/>
            <a:ext cx="357968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Relationship-aware retrieval across connected entities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25" y="2658628"/>
            <a:ext cx="151805" cy="1518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859" y="2655540"/>
            <a:ext cx="1886843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Streaming Pipelines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68859" y="2889647"/>
            <a:ext cx="357968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ingestion and live index updates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825" y="3186224"/>
            <a:ext cx="151805" cy="1518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859" y="3183136"/>
            <a:ext cx="1563291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OpenShift AI Deployment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868859" y="3417243"/>
            <a:ext cx="357968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Kubernetes-native, enterprise-grade orchestration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825" y="3713820"/>
            <a:ext cx="151805" cy="1518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859" y="3710732"/>
            <a:ext cx="1432099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LangFuse Observability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868859" y="3944838"/>
            <a:ext cx="357968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traceability of LLM calls and retrieval chains</a:t>
            </a:r>
            <a:endParaRPr lang="en-US" sz="7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7825" y="4241416"/>
            <a:ext cx="151805" cy="1518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68859" y="4238327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FastAPI AI Services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868859" y="4472434"/>
            <a:ext cx="357968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RESTful APIs for seamless system integration</a:t>
            </a:r>
            <a:endParaRPr lang="en-US" sz="750" dirty="0"/>
          </a:p>
        </p:txBody>
      </p:sp>
      <p:sp>
        <p:nvSpPr>
          <p:cNvPr id="23" name="Shape 15"/>
          <p:cNvSpPr/>
          <p:nvPr/>
        </p:nvSpPr>
        <p:spPr>
          <a:xfrm>
            <a:off x="4627364" y="1280889"/>
            <a:ext cx="4054376" cy="3418582"/>
          </a:xfrm>
          <a:prstGeom prst="roundRect">
            <a:avLst>
              <a:gd name="adj" fmla="val 2132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4728567" y="1356792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Long-Term Vision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4728567" y="1590898"/>
            <a:ext cx="3851970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 </a:t>
            </a:r>
            <a:pPr algn="l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production-grade autonomous enterprise AI systems</a:t>
            </a:r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by combining the full modern AI stack: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728567" y="1959620"/>
            <a:ext cx="1888034" cy="587722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834533" y="2065586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4834533" y="2299692"/>
            <a:ext cx="167610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Retrieval &amp; Data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6692503" y="1959620"/>
            <a:ext cx="1888034" cy="587722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798469" y="2065586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LangChain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798469" y="2299692"/>
            <a:ext cx="167610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4728567" y="2623245"/>
            <a:ext cx="1888034" cy="587722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34533" y="2729210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834533" y="2963317"/>
            <a:ext cx="167610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Agentic Workflows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6692503" y="2623245"/>
            <a:ext cx="1888034" cy="587722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798469" y="2729210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Vector DBs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6798469" y="2963317"/>
            <a:ext cx="167610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 Storage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4728567" y="3286869"/>
            <a:ext cx="3851970" cy="587722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834533" y="3392835"/>
            <a:ext cx="1265486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LLMs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4834533" y="3626941"/>
            <a:ext cx="364003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Intelligent Inference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2495"/>
            <a:ext cx="2868439" cy="35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39874" y="986061"/>
            <a:ext cx="8064252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 provides a robust, scalable foundation for building enterprise RAG applications — transforming raw organisational data into intelligent, searchable knowledge that powers accurate AI systems.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874" y="1607418"/>
            <a:ext cx="2623096" cy="1342058"/>
          </a:xfrm>
          <a:prstGeom prst="roundRect">
            <a:avLst>
              <a:gd name="adj" fmla="val 5110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874" y="1593131"/>
            <a:ext cx="2623096" cy="57150"/>
          </a:xfrm>
          <a:prstGeom prst="roundRect">
            <a:avLst>
              <a:gd name="adj" fmla="val 84322"/>
            </a:avLst>
          </a:prstGeom>
          <a:solidFill>
            <a:srgbClr val="609DFF"/>
          </a:solidFill>
          <a:ln/>
        </p:spPr>
      </p:sp>
      <p:sp>
        <p:nvSpPr>
          <p:cNvPr id="6" name="Shape 4"/>
          <p:cNvSpPr/>
          <p:nvPr/>
        </p:nvSpPr>
        <p:spPr>
          <a:xfrm>
            <a:off x="1679339" y="1435373"/>
            <a:ext cx="344165" cy="344165"/>
          </a:xfrm>
          <a:prstGeom prst="roundRect">
            <a:avLst>
              <a:gd name="adj" fmla="val 166054"/>
            </a:avLst>
          </a:prstGeom>
          <a:solidFill>
            <a:srgbClr val="609DFF"/>
          </a:solidFill>
          <a:ln/>
        </p:spPr>
      </p:sp>
      <p:sp>
        <p:nvSpPr>
          <p:cNvPr id="7" name="Text 5"/>
          <p:cNvSpPr/>
          <p:nvPr/>
        </p:nvSpPr>
        <p:spPr>
          <a:xfrm>
            <a:off x="1782552" y="1521396"/>
            <a:ext cx="1376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8834" y="1894210"/>
            <a:ext cx="201014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Simplified RAG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8834" y="2131888"/>
            <a:ext cx="2365177" cy="67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LlamaIndex abstracts the complexity of document ingestion, embedding, and retrieval into a clean, composable framework.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0452" y="1607418"/>
            <a:ext cx="2623096" cy="1342058"/>
          </a:xfrm>
          <a:prstGeom prst="roundRect">
            <a:avLst>
              <a:gd name="adj" fmla="val 5110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0452" y="1593131"/>
            <a:ext cx="2623096" cy="57150"/>
          </a:xfrm>
          <a:prstGeom prst="roundRect">
            <a:avLst>
              <a:gd name="adj" fmla="val 84322"/>
            </a:avLst>
          </a:prstGeom>
          <a:solidFill>
            <a:srgbClr val="609D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9917" y="1435373"/>
            <a:ext cx="344165" cy="344165"/>
          </a:xfrm>
          <a:prstGeom prst="roundRect">
            <a:avLst>
              <a:gd name="adj" fmla="val 166054"/>
            </a:avLst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03130" y="1521396"/>
            <a:ext cx="1376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9412" y="1894210"/>
            <a:ext cx="2365177" cy="35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Retrieval Improves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9412" y="2311078"/>
            <a:ext cx="2365177" cy="509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Combining vector and BM25 search with reranking delivers significantly better answer quality and reduces hallucinations.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1030" y="1607418"/>
            <a:ext cx="2623096" cy="1342058"/>
          </a:xfrm>
          <a:prstGeom prst="roundRect">
            <a:avLst>
              <a:gd name="adj" fmla="val 5110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1030" y="1593131"/>
            <a:ext cx="2623096" cy="57150"/>
          </a:xfrm>
          <a:prstGeom prst="roundRect">
            <a:avLst>
              <a:gd name="adj" fmla="val 84322"/>
            </a:avLst>
          </a:prstGeom>
          <a:solidFill>
            <a:srgbClr val="609D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20496" y="1435373"/>
            <a:ext cx="344165" cy="344165"/>
          </a:xfrm>
          <a:prstGeom prst="roundRect">
            <a:avLst>
              <a:gd name="adj" fmla="val 166054"/>
            </a:avLst>
          </a:prstGeom>
          <a:solidFill>
            <a:srgbClr val="609DFF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08" y="1521396"/>
            <a:ext cx="1376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09990" y="1894210"/>
            <a:ext cx="2357065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PGVector Enables Scalable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09990" y="2131888"/>
            <a:ext cx="2365177" cy="509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 with PGVector provides persistent, SQL-compatible vector storage suitable for enterprise-scale deployments.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874" y="3219004"/>
            <a:ext cx="3983385" cy="993056"/>
          </a:xfrm>
          <a:prstGeom prst="roundRect">
            <a:avLst>
              <a:gd name="adj" fmla="val 690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874" y="3204716"/>
            <a:ext cx="3983385" cy="57150"/>
          </a:xfrm>
          <a:prstGeom prst="roundRect">
            <a:avLst>
              <a:gd name="adj" fmla="val 84322"/>
            </a:avLst>
          </a:prstGeom>
          <a:solidFill>
            <a:srgbClr val="609D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359484" y="3046958"/>
            <a:ext cx="344165" cy="344165"/>
          </a:xfrm>
          <a:prstGeom prst="roundRect">
            <a:avLst>
              <a:gd name="adj" fmla="val 166054"/>
            </a:avLst>
          </a:prstGeom>
          <a:solidFill>
            <a:srgbClr val="609DFF"/>
          </a:solidFill>
          <a:ln/>
        </p:spPr>
      </p:sp>
      <p:sp>
        <p:nvSpPr>
          <p:cNvPr id="25" name="Text 23"/>
          <p:cNvSpPr/>
          <p:nvPr/>
        </p:nvSpPr>
        <p:spPr>
          <a:xfrm>
            <a:off x="2462696" y="3132981"/>
            <a:ext cx="1376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8834" y="3505795"/>
            <a:ext cx="1933649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Groq Delivers Fast Inference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8834" y="3743474"/>
            <a:ext cx="3725466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Ultra-low-latency LLM inference through Groq ensures real-time, responsive AI interactions for end users.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0741" y="3219004"/>
            <a:ext cx="3983385" cy="993056"/>
          </a:xfrm>
          <a:prstGeom prst="roundRect">
            <a:avLst>
              <a:gd name="adj" fmla="val 690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0741" y="3204716"/>
            <a:ext cx="3983385" cy="57150"/>
          </a:xfrm>
          <a:prstGeom prst="roundRect">
            <a:avLst>
              <a:gd name="adj" fmla="val 84322"/>
            </a:avLst>
          </a:prstGeom>
          <a:solidFill>
            <a:srgbClr val="609D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0351" y="3046958"/>
            <a:ext cx="344165" cy="344165"/>
          </a:xfrm>
          <a:prstGeom prst="roundRect">
            <a:avLst>
              <a:gd name="adj" fmla="val 166054"/>
            </a:avLst>
          </a:prstGeom>
          <a:solidFill>
            <a:srgbClr val="609D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43563" y="3132981"/>
            <a:ext cx="1376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49701" y="3505795"/>
            <a:ext cx="2832125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AI Requires Full Orchestration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49701" y="3743474"/>
            <a:ext cx="3725466" cy="33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Production systems need retrieval, memory, vector search, and intelligent orchestration working in concert.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1919" y="4431432"/>
            <a:ext cx="7892207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"LlamaIndex transforms enterprise data into intelligent, searchable knowledge for AI applications."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874" y="4321746"/>
            <a:ext cx="14288" cy="389186"/>
          </a:xfrm>
          <a:prstGeom prst="rect">
            <a:avLst/>
          </a:prstGeom>
          <a:solidFill>
            <a:srgbClr val="609D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2026-05-06T09:14:13Z</dcterms:created>
  <dcterms:modified xsi:type="dcterms:W3CDTF">2026-05-06T09:14:13Z</dcterms:modified>
</cp:coreProperties>
</file>